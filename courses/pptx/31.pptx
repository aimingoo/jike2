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 b="def" i="def"/>
      <a:tcStyle>
        <a:tcBdr/>
        <a:fill>
          <a:solidFill>
            <a:srgbClr val="FCE9F0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" name="Shape 6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2" name="Shape 1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NOTE1：泛型名是通过type等具名的声明来声明的。</a:t>
            </a:r>
          </a:p>
          <a:p>
            <a:pPr/>
            <a:r>
              <a:t>NOTE2：符号类型是通过同名的符号常量来声明的，可以将该常量视为一个符号字面类型（并不存在该类型，常量是可以在类型系统中直接访问和使用的，但主要——目前来看是仅能——用作计算成员名）。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定位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片 3" descr="图片 3"/>
          <p:cNvPicPr>
            <a:picLocks noChangeAspect="1"/>
          </p:cNvPicPr>
          <p:nvPr/>
        </p:nvPicPr>
        <p:blipFill>
          <a:blip r:embed="rId3">
            <a:extLst/>
          </a:blip>
          <a:srcRect l="0" t="14057" r="0" b="0"/>
          <a:stretch>
            <a:fillRect/>
          </a:stretch>
        </p:blipFill>
        <p:spPr>
          <a:xfrm>
            <a:off x="49385" y="1901141"/>
            <a:ext cx="24334616" cy="117640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TGO 鲲鹏会（深色背景反白）.png" descr="TGO 鲲鹏会（深色背景反白）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835499" y="638999"/>
            <a:ext cx="3731665" cy="1067108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线条"/>
          <p:cNvSpPr/>
          <p:nvPr/>
        </p:nvSpPr>
        <p:spPr>
          <a:xfrm flipV="1">
            <a:off x="2199175" y="1506027"/>
            <a:ext cx="1" cy="9986913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" name="幻灯片编号"/>
          <p:cNvSpPr txBox="1"/>
          <p:nvPr>
            <p:ph type="sldNum" sz="quarter" idx="2"/>
          </p:nvPr>
        </p:nvSpPr>
        <p:spPr>
          <a:xfrm>
            <a:off x="17266259" y="127127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播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图片 3" descr="图片 3"/>
          <p:cNvPicPr>
            <a:picLocks noChangeAspect="1"/>
          </p:cNvPicPr>
          <p:nvPr/>
        </p:nvPicPr>
        <p:blipFill>
          <a:blip r:embed="rId3">
            <a:extLst/>
          </a:blip>
          <a:srcRect l="0" t="14057" r="0" b="0"/>
          <a:stretch>
            <a:fillRect/>
          </a:stretch>
        </p:blipFill>
        <p:spPr>
          <a:xfrm>
            <a:off x="49385" y="1901141"/>
            <a:ext cx="24334616" cy="1176405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TGO 鲲鹏会（深色背景反白）.png" descr="TGO 鲲鹏会（深色背景反白）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835499" y="638999"/>
            <a:ext cx="3731665" cy="1067108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幻灯片编号"/>
          <p:cNvSpPr txBox="1"/>
          <p:nvPr>
            <p:ph type="sldNum" sz="quarter" idx="2"/>
          </p:nvPr>
        </p:nvSpPr>
        <p:spPr>
          <a:xfrm>
            <a:off x="17266259" y="127127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TGO 鲲鹏会（深色背景反白）.png" descr="TGO 鲲鹏会（深色背景反白）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835499" y="638999"/>
            <a:ext cx="3731665" cy="1067108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幻灯片编号"/>
          <p:cNvSpPr txBox="1"/>
          <p:nvPr>
            <p:ph type="sldNum" sz="quarter" idx="2"/>
          </p:nvPr>
        </p:nvSpPr>
        <p:spPr>
          <a:xfrm>
            <a:off x="17266259" y="127127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无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幻灯片编号"/>
          <p:cNvSpPr txBox="1"/>
          <p:nvPr>
            <p:ph type="sldNum" sz="quarter" idx="2"/>
          </p:nvPr>
        </p:nvSpPr>
        <p:spPr>
          <a:xfrm>
            <a:off x="17266259" y="127127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QCon +-2.jpg" descr="QCon +-2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标题文本"/>
          <p:cNvSpPr txBox="1"/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825500">
              <a:lnSpc>
                <a:spcPct val="100000"/>
              </a:lnSpc>
              <a:defRPr sz="11200">
                <a:solidFill>
                  <a:srgbClr val="FFFFFF"/>
                </a:solidFill>
                <a:latin typeface="PingFang SC Medium"/>
                <a:ea typeface="PingFang SC Medium"/>
                <a:cs typeface="PingFang SC Medium"/>
                <a:sym typeface="PingFang SC Medium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2" name="正文级别 1…"/>
          <p:cNvSpPr txBox="1"/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53" name="图片 6" descr="图片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幻灯片编号"/>
          <p:cNvSpPr txBox="1"/>
          <p:nvPr>
            <p:ph type="sldNum" sz="quarter" idx="2"/>
          </p:nvPr>
        </p:nvSpPr>
        <p:spPr>
          <a:xfrm>
            <a:off x="11976710" y="130810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22146200" y="12795909"/>
            <a:ext cx="561400" cy="563832"/>
          </a:xfrm>
          <a:prstGeom prst="rect">
            <a:avLst/>
          </a:prstGeom>
          <a:ln w="12700">
            <a:miter lim="400000"/>
          </a:ln>
        </p:spPr>
        <p:txBody>
          <a:bodyPr wrap="none" tIns="91439" bIns="91439" anchor="ctr">
            <a:spAutoFit/>
          </a:bodyPr>
          <a:lstStyle>
            <a:lvl1pPr algn="r" defTabSz="1828800">
              <a:defRPr sz="2400">
                <a:solidFill>
                  <a:srgbClr val="888888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1pPr>
      <a:lvl2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2pPr>
      <a:lvl3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3pPr>
      <a:lvl4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4pPr>
      <a:lvl5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5pPr>
      <a:lvl6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6pPr>
      <a:lvl7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7pPr>
      <a:lvl8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8pPr>
      <a:lvl9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9pPr>
    </p:titleStyle>
    <p:bodyStyle>
      <a:lvl1pPr marL="457200" marR="0" indent="-457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1pPr>
      <a:lvl2pPr marL="990600" marR="0" indent="-5334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2pPr>
      <a:lvl3pPr marL="1554479" marR="0" indent="-640079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3pPr>
      <a:lvl4pPr marL="20828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4pPr>
      <a:lvl5pPr marL="25400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5pPr>
      <a:lvl6pPr marL="29972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6pPr>
      <a:lvl7pPr marL="34544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7pPr>
      <a:lvl8pPr marL="39116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8pPr>
      <a:lvl9pPr marL="43688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9pPr>
    </p:bodyStyle>
    <p:otherStyle>
      <a:lvl1pPr marL="0" marR="0" indent="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1pPr>
      <a:lvl2pPr marL="0" marR="0" indent="4572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2pPr>
      <a:lvl3pPr marL="0" marR="0" indent="9144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3pPr>
      <a:lvl4pPr marL="0" marR="0" indent="13716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4pPr>
      <a:lvl5pPr marL="0" marR="0" indent="18288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5pPr>
      <a:lvl6pPr marL="0" marR="0" indent="22860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6pPr>
      <a:lvl7pPr marL="0" marR="0" indent="27432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7pPr>
      <a:lvl8pPr marL="0" marR="0" indent="32004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8pPr>
      <a:lvl9pPr marL="0" marR="0" indent="36576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填写课程标题"/>
          <p:cNvSpPr txBox="1"/>
          <p:nvPr>
            <p:ph type="title"/>
          </p:nvPr>
        </p:nvSpPr>
        <p:spPr>
          <a:xfrm>
            <a:off x="1778000" y="4291457"/>
            <a:ext cx="20828000" cy="2621154"/>
          </a:xfrm>
          <a:prstGeom prst="rect">
            <a:avLst/>
          </a:prstGeom>
        </p:spPr>
        <p:txBody>
          <a:bodyPr/>
          <a:lstStyle>
            <a:lvl1pPr>
              <a:defRPr sz="9600">
                <a:latin typeface="+mj-lt"/>
                <a:ea typeface="+mj-ea"/>
                <a:cs typeface="+mj-cs"/>
                <a:sym typeface="PingFang SC Regular"/>
              </a:defRPr>
            </a:lvl1pPr>
          </a:lstStyle>
          <a:p>
            <a:pPr/>
            <a:r>
              <a:t>31 |  函数与类的泛型声明</a:t>
            </a:r>
          </a:p>
        </p:txBody>
      </p:sp>
      <p:sp>
        <p:nvSpPr>
          <p:cNvPr id="71" name="副标题 / 讲师"/>
          <p:cNvSpPr txBox="1"/>
          <p:nvPr>
            <p:ph type="body" sz="quarter" idx="1"/>
          </p:nvPr>
        </p:nvSpPr>
        <p:spPr>
          <a:xfrm>
            <a:off x="1778000" y="7376230"/>
            <a:ext cx="20828000" cy="158750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PingFang SC Regular"/>
              </a:defRPr>
            </a:lvl1pPr>
          </a:lstStyle>
          <a:p>
            <a:pPr/>
            <a:r>
              <a:t>周爱民（Aimingoo）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23"/>
          <p:cNvSpPr txBox="1"/>
          <p:nvPr/>
        </p:nvSpPr>
        <p:spPr>
          <a:xfrm>
            <a:off x="5430539" y="3890033"/>
            <a:ext cx="1016000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函数类型的泛型声明（简单复习）</a:t>
            </a:r>
          </a:p>
        </p:txBody>
      </p:sp>
      <p:grpSp>
        <p:nvGrpSpPr>
          <p:cNvPr id="76" name="圆角矩形 27"/>
          <p:cNvGrpSpPr/>
          <p:nvPr/>
        </p:nvGrpSpPr>
        <p:grpSpPr>
          <a:xfrm>
            <a:off x="4028606" y="3806502"/>
            <a:ext cx="951682" cy="914583"/>
            <a:chOff x="0" y="0"/>
            <a:chExt cx="951681" cy="914582"/>
          </a:xfrm>
        </p:grpSpPr>
        <p:sp>
          <p:nvSpPr>
            <p:cNvPr id="74" name="圆角矩形"/>
            <p:cNvSpPr/>
            <p:nvPr/>
          </p:nvSpPr>
          <p:spPr>
            <a:xfrm>
              <a:off x="0" y="-1"/>
              <a:ext cx="951682" cy="914584"/>
            </a:xfrm>
            <a:prstGeom prst="roundRect">
              <a:avLst>
                <a:gd name="adj" fmla="val 16667"/>
              </a:avLst>
            </a:prstGeom>
            <a:solidFill>
              <a:srgbClr val="0079B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pPr>
            </a:p>
          </p:txBody>
        </p:sp>
        <p:sp>
          <p:nvSpPr>
            <p:cNvPr id="75" name="1"/>
            <p:cNvSpPr txBox="1"/>
            <p:nvPr/>
          </p:nvSpPr>
          <p:spPr>
            <a:xfrm>
              <a:off x="44645" y="55969"/>
              <a:ext cx="862392" cy="802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77" name="在此输入一级标题"/>
          <p:cNvSpPr txBox="1"/>
          <p:nvPr/>
        </p:nvSpPr>
        <p:spPr>
          <a:xfrm>
            <a:off x="1285952" y="1239528"/>
            <a:ext cx="5063607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目录</a:t>
            </a:r>
          </a:p>
        </p:txBody>
      </p:sp>
      <p:sp>
        <p:nvSpPr>
          <p:cNvPr id="78" name="矩形 23"/>
          <p:cNvSpPr txBox="1"/>
          <p:nvPr/>
        </p:nvSpPr>
        <p:spPr>
          <a:xfrm>
            <a:off x="5431509" y="5350040"/>
            <a:ext cx="1016000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实体：泛型函数与泛型类</a:t>
            </a:r>
          </a:p>
        </p:txBody>
      </p:sp>
      <p:grpSp>
        <p:nvGrpSpPr>
          <p:cNvPr id="81" name="圆角矩形 27"/>
          <p:cNvGrpSpPr/>
          <p:nvPr/>
        </p:nvGrpSpPr>
        <p:grpSpPr>
          <a:xfrm>
            <a:off x="4028606" y="5287215"/>
            <a:ext cx="951682" cy="914583"/>
            <a:chOff x="0" y="0"/>
            <a:chExt cx="951681" cy="914582"/>
          </a:xfrm>
        </p:grpSpPr>
        <p:sp>
          <p:nvSpPr>
            <p:cNvPr id="79" name="圆角矩形"/>
            <p:cNvSpPr/>
            <p:nvPr/>
          </p:nvSpPr>
          <p:spPr>
            <a:xfrm>
              <a:off x="0" y="-1"/>
              <a:ext cx="951682" cy="914584"/>
            </a:xfrm>
            <a:prstGeom prst="roundRect">
              <a:avLst>
                <a:gd name="adj" fmla="val 16667"/>
              </a:avLst>
            </a:prstGeom>
            <a:solidFill>
              <a:srgbClr val="0079B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pPr>
            </a:p>
          </p:txBody>
        </p:sp>
        <p:sp>
          <p:nvSpPr>
            <p:cNvPr id="80" name="1"/>
            <p:cNvSpPr txBox="1"/>
            <p:nvPr/>
          </p:nvSpPr>
          <p:spPr>
            <a:xfrm>
              <a:off x="44645" y="55969"/>
              <a:ext cx="862392" cy="802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82" name="矩形 23"/>
          <p:cNvSpPr txBox="1"/>
          <p:nvPr/>
        </p:nvSpPr>
        <p:spPr>
          <a:xfrm>
            <a:off x="5355309" y="9047486"/>
            <a:ext cx="1016000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总结</a:t>
            </a:r>
          </a:p>
        </p:txBody>
      </p:sp>
      <p:grpSp>
        <p:nvGrpSpPr>
          <p:cNvPr id="85" name="圆角矩形 27"/>
          <p:cNvGrpSpPr/>
          <p:nvPr/>
        </p:nvGrpSpPr>
        <p:grpSpPr>
          <a:xfrm>
            <a:off x="4003206" y="8979484"/>
            <a:ext cx="951682" cy="914583"/>
            <a:chOff x="0" y="0"/>
            <a:chExt cx="951681" cy="914582"/>
          </a:xfrm>
        </p:grpSpPr>
        <p:sp>
          <p:nvSpPr>
            <p:cNvPr id="83" name="圆角矩形"/>
            <p:cNvSpPr/>
            <p:nvPr/>
          </p:nvSpPr>
          <p:spPr>
            <a:xfrm>
              <a:off x="0" y="-1"/>
              <a:ext cx="951682" cy="914584"/>
            </a:xfrm>
            <a:prstGeom prst="roundRect">
              <a:avLst>
                <a:gd name="adj" fmla="val 16667"/>
              </a:avLst>
            </a:prstGeom>
            <a:solidFill>
              <a:srgbClr val="0079B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pPr>
            </a:p>
          </p:txBody>
        </p:sp>
        <p:sp>
          <p:nvSpPr>
            <p:cNvPr id="84" name="1"/>
            <p:cNvSpPr txBox="1"/>
            <p:nvPr/>
          </p:nvSpPr>
          <p:spPr>
            <a:xfrm>
              <a:off x="44645" y="55969"/>
              <a:ext cx="862392" cy="802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86" name="矩形 23"/>
          <p:cNvSpPr txBox="1"/>
          <p:nvPr/>
        </p:nvSpPr>
        <p:spPr>
          <a:xfrm>
            <a:off x="6142709" y="6754553"/>
            <a:ext cx="101600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8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类型：带泛型参数的函数类型</a:t>
            </a:r>
          </a:p>
        </p:txBody>
      </p:sp>
      <p:sp>
        <p:nvSpPr>
          <p:cNvPr id="87" name="矩形 23"/>
          <p:cNvSpPr txBox="1"/>
          <p:nvPr/>
        </p:nvSpPr>
        <p:spPr>
          <a:xfrm>
            <a:off x="6142710" y="7602660"/>
            <a:ext cx="101600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8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有两种实例化的方法</a:t>
            </a:r>
          </a:p>
        </p:txBody>
      </p:sp>
      <p:grpSp>
        <p:nvGrpSpPr>
          <p:cNvPr id="90" name="圆角矩形 27"/>
          <p:cNvGrpSpPr/>
          <p:nvPr/>
        </p:nvGrpSpPr>
        <p:grpSpPr>
          <a:xfrm>
            <a:off x="4968406" y="6640929"/>
            <a:ext cx="742792" cy="713836"/>
            <a:chOff x="0" y="0"/>
            <a:chExt cx="742791" cy="713834"/>
          </a:xfrm>
        </p:grpSpPr>
        <p:sp>
          <p:nvSpPr>
            <p:cNvPr id="88" name="圆角矩形"/>
            <p:cNvSpPr/>
            <p:nvPr/>
          </p:nvSpPr>
          <p:spPr>
            <a:xfrm>
              <a:off x="0" y="-1"/>
              <a:ext cx="742792" cy="713836"/>
            </a:xfrm>
            <a:prstGeom prst="roundRect">
              <a:avLst>
                <a:gd name="adj" fmla="val 16667"/>
              </a:avLst>
            </a:prstGeom>
            <a:solidFill>
              <a:srgbClr val="0079B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pPr>
            </a:p>
          </p:txBody>
        </p:sp>
        <p:sp>
          <p:nvSpPr>
            <p:cNvPr id="89" name="1"/>
            <p:cNvSpPr txBox="1"/>
            <p:nvPr/>
          </p:nvSpPr>
          <p:spPr>
            <a:xfrm>
              <a:off x="34845" y="43684"/>
              <a:ext cx="673101" cy="626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>
              <a:lvl1pPr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93" name="圆角矩形 27"/>
          <p:cNvGrpSpPr/>
          <p:nvPr/>
        </p:nvGrpSpPr>
        <p:grpSpPr>
          <a:xfrm>
            <a:off x="4988230" y="7499743"/>
            <a:ext cx="742793" cy="713836"/>
            <a:chOff x="0" y="0"/>
            <a:chExt cx="742791" cy="713834"/>
          </a:xfrm>
        </p:grpSpPr>
        <p:sp>
          <p:nvSpPr>
            <p:cNvPr id="91" name="圆角矩形"/>
            <p:cNvSpPr/>
            <p:nvPr/>
          </p:nvSpPr>
          <p:spPr>
            <a:xfrm>
              <a:off x="0" y="-1"/>
              <a:ext cx="742792" cy="713836"/>
            </a:xfrm>
            <a:prstGeom prst="roundRect">
              <a:avLst>
                <a:gd name="adj" fmla="val 16667"/>
              </a:avLst>
            </a:prstGeom>
            <a:solidFill>
              <a:srgbClr val="0079B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pPr>
            </a:p>
          </p:txBody>
        </p:sp>
        <p:sp>
          <p:nvSpPr>
            <p:cNvPr id="92" name="1"/>
            <p:cNvSpPr txBox="1"/>
            <p:nvPr/>
          </p:nvSpPr>
          <p:spPr>
            <a:xfrm>
              <a:off x="34845" y="43684"/>
              <a:ext cx="673101" cy="626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>
              <a:lvl1pPr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在此输入一级标题"/>
          <p:cNvSpPr txBox="1"/>
          <p:nvPr/>
        </p:nvSpPr>
        <p:spPr>
          <a:xfrm>
            <a:off x="1285952" y="1239528"/>
            <a:ext cx="8945242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与函数相关的泛型声明</a:t>
            </a:r>
          </a:p>
        </p:txBody>
      </p:sp>
      <p:pic>
        <p:nvPicPr>
          <p:cNvPr id="96" name="已粘贴的影片.png" descr="已粘贴的影片.png"/>
          <p:cNvPicPr>
            <a:picLocks noChangeAspect="1"/>
          </p:cNvPicPr>
          <p:nvPr/>
        </p:nvPicPr>
        <p:blipFill>
          <a:blip r:embed="rId2">
            <a:alphaModFix amt="36099"/>
            <a:extLst/>
          </a:blip>
          <a:stretch>
            <a:fillRect/>
          </a:stretch>
        </p:blipFill>
        <p:spPr>
          <a:xfrm>
            <a:off x="4314181" y="2577689"/>
            <a:ext cx="15132360" cy="9940717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已粘贴的影片.png" descr="已粘贴的影片.png"/>
          <p:cNvPicPr>
            <a:picLocks noChangeAspect="1"/>
          </p:cNvPicPr>
          <p:nvPr/>
        </p:nvPicPr>
        <p:blipFill>
          <a:blip r:embed="rId2">
            <a:extLst/>
          </a:blip>
          <a:srcRect l="0" t="73906" r="1090" b="2988"/>
          <a:stretch>
            <a:fillRect/>
          </a:stretch>
        </p:blipFill>
        <p:spPr>
          <a:xfrm>
            <a:off x="4314181" y="9924539"/>
            <a:ext cx="14967359" cy="2296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线条 线条" descr="线条 线条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9047221">
            <a:off x="12952539" y="6359109"/>
            <a:ext cx="2259608" cy="95697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declaration merging 2.png" descr="declaration merging 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24486" y="1944202"/>
            <a:ext cx="17546420" cy="930782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https://typescriptlang.org/docs/handbook/declaration-merging.html"/>
          <p:cNvSpPr txBox="1"/>
          <p:nvPr/>
        </p:nvSpPr>
        <p:spPr>
          <a:xfrm>
            <a:off x="6789371" y="11490125"/>
            <a:ext cx="10021913" cy="42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1828800">
              <a:defRPr sz="20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https://typescriptlang.org/docs/handbook/declaration-merging.html</a:t>
            </a:r>
          </a:p>
        </p:txBody>
      </p:sp>
      <p:sp>
        <p:nvSpPr>
          <p:cNvPr id="103" name="线条"/>
          <p:cNvSpPr/>
          <p:nvPr/>
        </p:nvSpPr>
        <p:spPr>
          <a:xfrm flipV="1">
            <a:off x="11409105" y="872138"/>
            <a:ext cx="1" cy="2900186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" name="线条"/>
          <p:cNvSpPr/>
          <p:nvPr/>
        </p:nvSpPr>
        <p:spPr>
          <a:xfrm flipV="1">
            <a:off x="15628651" y="1484459"/>
            <a:ext cx="1" cy="1675544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" name="线条"/>
          <p:cNvSpPr/>
          <p:nvPr/>
        </p:nvSpPr>
        <p:spPr>
          <a:xfrm flipV="1">
            <a:off x="18724845" y="1484459"/>
            <a:ext cx="1" cy="1675544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" name="declare"/>
          <p:cNvSpPr txBox="1"/>
          <p:nvPr/>
        </p:nvSpPr>
        <p:spPr>
          <a:xfrm>
            <a:off x="9966914" y="472477"/>
            <a:ext cx="1181274" cy="42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1828800">
              <a:defRPr sz="20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declare</a:t>
            </a:r>
          </a:p>
        </p:txBody>
      </p:sp>
      <p:sp>
        <p:nvSpPr>
          <p:cNvPr id="107" name="scope"/>
          <p:cNvSpPr txBox="1"/>
          <p:nvPr/>
        </p:nvSpPr>
        <p:spPr>
          <a:xfrm>
            <a:off x="11601363" y="472477"/>
            <a:ext cx="876425" cy="42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1828800">
              <a:defRPr sz="20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scope</a:t>
            </a:r>
          </a:p>
        </p:txBody>
      </p:sp>
      <p:sp>
        <p:nvSpPr>
          <p:cNvPr id="108" name="名字空间"/>
          <p:cNvSpPr txBox="1"/>
          <p:nvPr/>
        </p:nvSpPr>
        <p:spPr>
          <a:xfrm>
            <a:off x="12765326" y="1416559"/>
            <a:ext cx="11303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1828800">
              <a:defRPr sz="20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名字空间</a:t>
            </a:r>
          </a:p>
        </p:txBody>
      </p:sp>
      <p:sp>
        <p:nvSpPr>
          <p:cNvPr id="109" name="类型"/>
          <p:cNvSpPr txBox="1"/>
          <p:nvPr/>
        </p:nvSpPr>
        <p:spPr>
          <a:xfrm>
            <a:off x="16743678" y="1396001"/>
            <a:ext cx="6223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1828800">
              <a:defRPr sz="20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类型</a:t>
            </a:r>
          </a:p>
        </p:txBody>
      </p:sp>
      <p:sp>
        <p:nvSpPr>
          <p:cNvPr id="110" name="值"/>
          <p:cNvSpPr txBox="1"/>
          <p:nvPr/>
        </p:nvSpPr>
        <p:spPr>
          <a:xfrm>
            <a:off x="19545540" y="1355327"/>
            <a:ext cx="3683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1828800">
              <a:defRPr sz="20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值</a:t>
            </a:r>
          </a:p>
        </p:txBody>
      </p:sp>
      <p:pic>
        <p:nvPicPr>
          <p:cNvPr id="111" name="图片 1" descr="图片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576803" y="8781183"/>
            <a:ext cx="609525" cy="609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图片 14" descr="图片 1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0066341" y="3052878"/>
            <a:ext cx="609525" cy="609525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矩形 23"/>
          <p:cNvSpPr txBox="1"/>
          <p:nvPr/>
        </p:nvSpPr>
        <p:spPr>
          <a:xfrm>
            <a:off x="13146326" y="8927535"/>
            <a:ext cx="36830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000">
                <a:solidFill>
                  <a:schemeClr val="accent5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X</a:t>
            </a:r>
          </a:p>
        </p:txBody>
      </p:sp>
      <p:pic>
        <p:nvPicPr>
          <p:cNvPr id="114" name="线条 线条" descr="线条 线条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1859606">
            <a:off x="1105018" y="3745043"/>
            <a:ext cx="2397682" cy="956978"/>
          </a:xfrm>
          <a:prstGeom prst="rect">
            <a:avLst/>
          </a:prstGeom>
        </p:spPr>
      </p:pic>
      <p:pic>
        <p:nvPicPr>
          <p:cNvPr id="116" name="线条 线条" descr="线条 线条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1859606">
            <a:off x="1333618" y="6134554"/>
            <a:ext cx="2397682" cy="956978"/>
          </a:xfrm>
          <a:prstGeom prst="rect">
            <a:avLst/>
          </a:prstGeom>
        </p:spPr>
      </p:pic>
      <p:pic>
        <p:nvPicPr>
          <p:cNvPr id="118" name="线条 线条" descr="线条 线条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1859606">
            <a:off x="1333618" y="7277554"/>
            <a:ext cx="2397682" cy="956978"/>
          </a:xfrm>
          <a:prstGeom prst="rect">
            <a:avLst/>
          </a:prstGeom>
        </p:spPr>
      </p:pic>
      <p:pic>
        <p:nvPicPr>
          <p:cNvPr id="120" name="线条 线条" descr="线条 线条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1859606">
            <a:off x="1333618" y="8524066"/>
            <a:ext cx="2397682" cy="956978"/>
          </a:xfrm>
          <a:prstGeom prst="rect">
            <a:avLst/>
          </a:prstGeom>
        </p:spPr>
      </p:pic>
      <p:pic>
        <p:nvPicPr>
          <p:cNvPr id="122" name="线条 线条" descr="线条 线条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13823569">
            <a:off x="19829155" y="10850395"/>
            <a:ext cx="1820146" cy="956977"/>
          </a:xfrm>
          <a:prstGeom prst="rect">
            <a:avLst/>
          </a:prstGeom>
        </p:spPr>
      </p:pic>
      <p:pic>
        <p:nvPicPr>
          <p:cNvPr id="124" name="圆角矩形 圆角矩形" descr="圆角矩形 圆角矩形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rot="20079199">
            <a:off x="19065613" y="3803776"/>
            <a:ext cx="2610981" cy="1262047"/>
          </a:xfrm>
          <a:prstGeom prst="rect">
            <a:avLst/>
          </a:prstGeom>
        </p:spPr>
      </p:pic>
      <p:pic>
        <p:nvPicPr>
          <p:cNvPr id="126" name="圆角矩形 圆角矩形" descr="圆角矩形 圆角矩形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rot="20079199">
            <a:off x="19065613" y="8356603"/>
            <a:ext cx="2610981" cy="1262048"/>
          </a:xfrm>
          <a:prstGeom prst="rect">
            <a:avLst/>
          </a:prstGeom>
        </p:spPr>
      </p:pic>
      <p:grpSp>
        <p:nvGrpSpPr>
          <p:cNvPr id="130" name="JS中的泛型化（在JS中支持泛型编程）"/>
          <p:cNvGrpSpPr/>
          <p:nvPr/>
        </p:nvGrpSpPr>
        <p:grpSpPr>
          <a:xfrm>
            <a:off x="7339814" y="12151512"/>
            <a:ext cx="9399522" cy="1310639"/>
            <a:chOff x="0" y="0"/>
            <a:chExt cx="9399521" cy="1310638"/>
          </a:xfrm>
        </p:grpSpPr>
        <p:sp>
          <p:nvSpPr>
            <p:cNvPr id="129" name="JS中的泛型化（在JS中支持泛型编程）"/>
            <p:cNvSpPr txBox="1"/>
            <p:nvPr/>
          </p:nvSpPr>
          <p:spPr>
            <a:xfrm>
              <a:off x="127000" y="126999"/>
              <a:ext cx="9145522" cy="1056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algn="l"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JS中的泛型化（在JS中支持泛型编程）</a:t>
              </a:r>
            </a:p>
          </p:txBody>
        </p:sp>
        <p:pic>
          <p:nvPicPr>
            <p:cNvPr id="128" name="JS中的泛型化（在JS中支持泛型编程） JS中的泛型化（在JS中支持泛型编程）" descr="JS中的泛型化（在JS中支持泛型编程） JS中的泛型化（在JS中支持泛型编程）"/>
            <p:cNvPicPr>
              <a:picLocks noChangeAspect="0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0" y="0"/>
              <a:ext cx="9399522" cy="1310639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在此输入一级标题"/>
          <p:cNvSpPr txBox="1"/>
          <p:nvPr/>
        </p:nvSpPr>
        <p:spPr>
          <a:xfrm>
            <a:off x="1285952" y="1239528"/>
            <a:ext cx="1175849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泛型函数与泛型类</a:t>
            </a:r>
          </a:p>
        </p:txBody>
      </p:sp>
      <p:sp>
        <p:nvSpPr>
          <p:cNvPr id="135" name="矩形 23"/>
          <p:cNvSpPr txBox="1"/>
          <p:nvPr/>
        </p:nvSpPr>
        <p:spPr>
          <a:xfrm>
            <a:off x="1696172" y="4341192"/>
            <a:ext cx="17054357" cy="671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08000" indent="-508000" algn="l">
              <a:buSzPct val="100000"/>
              <a:buAutoNum type="arabicPeriod" startAt="1"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具名的（V1）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function foo&lt;T&gt; (a: T): T { return a }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class MyClass&lt;T&gt; { a: T }</a:t>
            </a:r>
          </a:p>
          <a:p>
            <a:pPr algn="l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</a:p>
          <a:p>
            <a:pPr marL="508000" indent="-508000" algn="l">
              <a:buSzPct val="100000"/>
              <a:buAutoNum type="arabicPeriod" startAt="2"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匿名的（V2）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let foo = &lt;T&gt; (a: T): T =&gt; { return a }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let MyClass = class &lt;T&gt; { a!: T }</a:t>
            </a:r>
          </a:p>
          <a:p>
            <a:pPr algn="l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</a:p>
          <a:p>
            <a:pPr marL="508000" indent="-508000" algn="l">
              <a:buSzPct val="100000"/>
              <a:buAutoNum type="arabicPeriod" startAt="3"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带泛型参数的函数类型（T = typeof V）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type Foo = typeof foo;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type MyClassConstructor = typeof MyClass;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也可以如下直接声明：</a:t>
            </a:r>
          </a:p>
          <a:p>
            <a:pPr lvl="3" marL="1403684" indent="-260684" algn="l">
              <a:buSzPct val="100000"/>
              <a:buChar char="‣"/>
              <a:defRPr sz="23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type Foo2 = &lt;T&gt; (a: T) =&gt; T;  </a:t>
            </a:r>
            <a:r>
              <a:rPr>
                <a:solidFill>
                  <a:srgbClr val="A9A9A9"/>
                </a:solidFill>
              </a:rPr>
              <a:t>// 或者使用调用符名</a:t>
            </a:r>
          </a:p>
          <a:p>
            <a:pPr lvl="3" marL="1403684" indent="-260684" algn="l">
              <a:buSzPct val="100000"/>
              <a:buChar char="‣"/>
              <a:defRPr sz="23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type MyClassConstructor = &lt;T&gt; { new &lt;T&gt;(): MyClassPrototype };  </a:t>
            </a:r>
            <a:r>
              <a:rPr>
                <a:solidFill>
                  <a:srgbClr val="A9A9A9"/>
                </a:solidFill>
              </a:rPr>
              <a:t>// 使用构造签名（没有类声明语法）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在此输入一级标题"/>
          <p:cNvSpPr txBox="1"/>
          <p:nvPr/>
        </p:nvSpPr>
        <p:spPr>
          <a:xfrm>
            <a:off x="1285952" y="1239528"/>
            <a:ext cx="5063607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138" name="矩形 23"/>
          <p:cNvSpPr txBox="1"/>
          <p:nvPr/>
        </p:nvSpPr>
        <p:spPr>
          <a:xfrm>
            <a:off x="1696172" y="4114800"/>
            <a:ext cx="16267652" cy="5622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08000" indent="-508000" algn="l">
              <a:buSzPct val="100000"/>
              <a:buAutoNum type="arabicPeriod" startAt="1"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函数类型的“泛型声明”：</a:t>
            </a:r>
            <a:r>
              <a:rPr>
                <a:solidFill>
                  <a:srgbClr val="D783FF"/>
                </a:solidFill>
                <a:latin typeface="Monaco"/>
                <a:ea typeface="Monaco"/>
                <a:cs typeface="Monaco"/>
                <a:sym typeface="Monaco"/>
              </a:rPr>
              <a:t>type</a:t>
            </a:r>
            <a:r>
              <a:rPr>
                <a:latin typeface="Monaco"/>
                <a:ea typeface="Monaco"/>
                <a:cs typeface="Monaco"/>
                <a:sym typeface="Monaco"/>
              </a:rPr>
              <a:t> Foo&lt;</a:t>
            </a:r>
            <a:r>
              <a:rPr>
                <a:solidFill>
                  <a:srgbClr val="00F900"/>
                </a:solidFill>
                <a:latin typeface="Monaco"/>
                <a:ea typeface="Monaco"/>
                <a:cs typeface="Monaco"/>
                <a:sym typeface="Monaco"/>
              </a:rPr>
              <a:t>T</a:t>
            </a:r>
            <a:r>
              <a:rPr>
                <a:latin typeface="Monaco"/>
                <a:ea typeface="Monaco"/>
                <a:cs typeface="Monaco"/>
                <a:sym typeface="Monaco"/>
              </a:rPr>
              <a:t>&gt; = (a: T): T;</a:t>
            </a:r>
            <a:endParaRPr>
              <a:latin typeface="Monaco"/>
              <a:ea typeface="Monaco"/>
              <a:cs typeface="Monaco"/>
              <a:sym typeface="Monaco"/>
            </a:endParaRP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跟所有“泛型声明”一样，Foo&lt;T&gt;返回的类型跟它声明的类型一致，是后者的一个实例。这个过程称为实例化。</a:t>
            </a:r>
          </a:p>
          <a:p>
            <a:pPr algn="l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</a:p>
          <a:p>
            <a:pPr algn="l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</a:p>
          <a:p>
            <a:pPr marL="508000" indent="-508000" algn="l">
              <a:buSzPct val="100000"/>
              <a:buAutoNum type="arabicPeriod" startAt="2"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泛型函数与泛型类（Generic Functions/Classes）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直接在js中声明成“带泛型参数的函数或类”。注意它的声明结果是“函数/类”这种实体，而不是类型。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泛型函数或类（例如 foo ）在声明时，同时会有对应的类型，可以使用 </a:t>
            </a:r>
            <a:r>
              <a:rPr>
                <a:solidFill>
                  <a:srgbClr val="0096FF"/>
                </a:solidFill>
                <a:latin typeface="Monaco"/>
                <a:ea typeface="Monaco"/>
                <a:cs typeface="Monaco"/>
                <a:sym typeface="Monaco"/>
              </a:rPr>
              <a:t>Foo2</a:t>
            </a:r>
            <a:r>
              <a:rPr>
                <a:latin typeface="Monaco"/>
                <a:ea typeface="Monaco"/>
                <a:cs typeface="Monaco"/>
                <a:sym typeface="Monaco"/>
              </a:rPr>
              <a:t> = </a:t>
            </a:r>
            <a:r>
              <a:rPr>
                <a:solidFill>
                  <a:srgbClr val="D783FF"/>
                </a:solidFill>
                <a:latin typeface="Monaco"/>
                <a:ea typeface="Monaco"/>
                <a:cs typeface="Monaco"/>
                <a:sym typeface="Monaco"/>
              </a:rPr>
              <a:t>typeof</a:t>
            </a:r>
            <a:r>
              <a:rPr>
                <a:latin typeface="Monaco"/>
                <a:ea typeface="Monaco"/>
                <a:cs typeface="Monaco"/>
                <a:sym typeface="Monaco"/>
              </a:rPr>
              <a:t> foo</a:t>
            </a:r>
            <a:r>
              <a:t> 来获取。</a:t>
            </a:r>
          </a:p>
          <a:p>
            <a:pPr algn="l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</a:p>
          <a:p>
            <a:pPr marL="508000" indent="-508000" algn="l">
              <a:buSzPct val="100000"/>
              <a:buAutoNum type="arabicPeriod" startAt="3"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带泛型参数的函数类型：</a:t>
            </a:r>
            <a:r>
              <a:rPr>
                <a:solidFill>
                  <a:srgbClr val="D783FF"/>
                </a:solidFill>
                <a:latin typeface="Monaco"/>
                <a:ea typeface="Monaco"/>
                <a:cs typeface="Monaco"/>
                <a:sym typeface="Monaco"/>
              </a:rPr>
              <a:t>type</a:t>
            </a:r>
            <a:r>
              <a:rPr>
                <a:latin typeface="Monaco"/>
                <a:ea typeface="Monaco"/>
                <a:cs typeface="Monaco"/>
                <a:sym typeface="Monaco"/>
              </a:rPr>
              <a:t> Foo = &lt;</a:t>
            </a:r>
            <a:r>
              <a:rPr>
                <a:solidFill>
                  <a:srgbClr val="00F900"/>
                </a:solidFill>
                <a:latin typeface="Monaco"/>
                <a:ea typeface="Monaco"/>
                <a:cs typeface="Monaco"/>
                <a:sym typeface="Monaco"/>
              </a:rPr>
              <a:t>T</a:t>
            </a:r>
            <a:r>
              <a:rPr>
                <a:latin typeface="Monaco"/>
                <a:ea typeface="Monaco"/>
                <a:cs typeface="Monaco"/>
                <a:sym typeface="Monaco"/>
              </a:rPr>
              <a:t>&gt;(a: T): T;</a:t>
            </a:r>
            <a:endParaRPr sz="2400">
              <a:latin typeface="Monaco"/>
              <a:ea typeface="Monaco"/>
              <a:cs typeface="Monaco"/>
              <a:sym typeface="Monaco"/>
            </a:endParaRP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对于泛型函数（Generic Functions/Generic Classes）来说，上述 </a:t>
            </a:r>
            <a:r>
              <a:rPr>
                <a:solidFill>
                  <a:srgbClr val="0096FF"/>
                </a:solidFill>
                <a:latin typeface="Monaco"/>
                <a:ea typeface="Monaco"/>
                <a:cs typeface="Monaco"/>
                <a:sym typeface="Monaco"/>
              </a:rPr>
              <a:t>Foo2</a:t>
            </a:r>
            <a:r>
              <a:t> 就是“带泛型参数的函数或类”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带泛型参数的函数或类是通过构造、调用或显式声明来实例化的。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在此输入一级标题"/>
          <p:cNvSpPr txBox="1"/>
          <p:nvPr/>
        </p:nvSpPr>
        <p:spPr>
          <a:xfrm>
            <a:off x="1285952" y="1239528"/>
            <a:ext cx="5063607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作业</a:t>
            </a:r>
          </a:p>
        </p:txBody>
      </p:sp>
      <p:sp>
        <p:nvSpPr>
          <p:cNvPr id="141" name="矩形 23"/>
          <p:cNvSpPr txBox="1"/>
          <p:nvPr/>
        </p:nvSpPr>
        <p:spPr>
          <a:xfrm>
            <a:off x="1721572" y="4285639"/>
            <a:ext cx="16973864" cy="109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1052" indent="-401052" algn="l">
              <a:buSzPct val="60000"/>
              <a:buBlip>
                <a:blip r:embed="rId2"/>
              </a:buBlip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1. 请解释如下声明：</a:t>
            </a:r>
          </a:p>
          <a:p>
            <a:pPr lvl="1" indent="457200" algn="l" defTabSz="1828800">
              <a:defRPr sz="24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D783FF"/>
                </a:solidFill>
              </a:rPr>
              <a:t>type</a:t>
            </a:r>
            <a:r>
              <a:t> SuperFoo&lt;T&gt; = &lt;X&gt;(x: T) =&gt; X;</a:t>
            </a:r>
          </a:p>
        </p:txBody>
      </p:sp>
      <p:sp>
        <p:nvSpPr>
          <p:cNvPr id="142" name="矩形 23"/>
          <p:cNvSpPr txBox="1"/>
          <p:nvPr/>
        </p:nvSpPr>
        <p:spPr>
          <a:xfrm>
            <a:off x="1721572" y="6311924"/>
            <a:ext cx="1697386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1052" indent="-401052" algn="l">
              <a:buSzPct val="60000"/>
              <a:buBlip>
                <a:blip r:embed="rId2"/>
              </a:buBlip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2. 阅读理解课件中的 t3.ts</a:t>
            </a:r>
          </a:p>
          <a:p>
            <a:pPr lvl="1" marL="1270000" indent="-635000" algn="l">
              <a:buSzPct val="73000"/>
              <a:buBlip>
                <a:blip r:embed="rId3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注意分析其中的 IsTransporter() 的三个不同实现。</a:t>
            </a:r>
          </a:p>
          <a:p>
            <a:pPr lvl="1" marL="1270000" indent="-635000" algn="l">
              <a:buSzPct val="73000"/>
              <a:buBlip>
                <a:blip r:embed="rId3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注意理解 IsTransporter3() 的设计与使用。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文本框 2"/>
          <p:cNvSpPr txBox="1"/>
          <p:nvPr/>
        </p:nvSpPr>
        <p:spPr>
          <a:xfrm>
            <a:off x="5726111" y="4584698"/>
            <a:ext cx="12931776" cy="454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THANKS</a:t>
            </a:r>
          </a:p>
        </p:txBody>
      </p:sp>
      <p:pic>
        <p:nvPicPr>
          <p:cNvPr id="145" name="TGO 鲲鹏会（深色背景反白）.png" descr="TGO 鲲鹏会（深色背景反白）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1116" y="632027"/>
            <a:ext cx="3780431" cy="10810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PingFang SC Regular"/>
        <a:ea typeface="PingFang SC Regular"/>
        <a:cs typeface="PingFang SC Regular"/>
      </a:majorFont>
      <a:minorFont>
        <a:latin typeface="苹方-简"/>
        <a:ea typeface="苹方-简"/>
        <a:cs typeface="苹方-简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PingFang SC Regular"/>
        <a:ea typeface="PingFang SC Regular"/>
        <a:cs typeface="PingFang SC Regular"/>
      </a:majorFont>
      <a:minorFont>
        <a:latin typeface="苹方-简"/>
        <a:ea typeface="苹方-简"/>
        <a:cs typeface="苹方-简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